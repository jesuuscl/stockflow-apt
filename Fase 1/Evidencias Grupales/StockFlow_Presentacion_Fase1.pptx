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kZVZwOz+cTwzY4Zdue7kzO1yh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bfec86a0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9bfec86a0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9bfec86a0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1D2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2194560" y="4754880"/>
            <a:ext cx="4114800" cy="4114800"/>
          </a:xfrm>
          <a:prstGeom prst="ellipse">
            <a:avLst/>
          </a:prstGeom>
          <a:solidFill>
            <a:srgbClr val="1D2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logo_duocuc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155448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PROYECTO APT — </a:t>
            </a:r>
            <a:r>
              <a:rPr b="1" lang="en-US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r>
              <a:rPr b="1" i="0" lang="en-US" sz="14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 FASE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" y="269748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StockFlow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79476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E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D2EE"/>
                </a:solidFill>
                <a:latin typeface="Calibri"/>
                <a:ea typeface="Calibri"/>
                <a:cs typeface="Calibri"/>
                <a:sym typeface="Calibri"/>
              </a:rPr>
              <a:t>Sistema web de </a:t>
            </a:r>
            <a:r>
              <a:rPr lang="en-US" sz="2000">
                <a:solidFill>
                  <a:srgbClr val="C7D2EE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0" i="0" lang="en-US" sz="2000" u="none" cap="none" strike="noStrike">
                <a:solidFill>
                  <a:srgbClr val="C7D2EE"/>
                </a:solidFill>
                <a:latin typeface="Calibri"/>
                <a:ea typeface="Calibri"/>
                <a:cs typeface="Calibri"/>
                <a:sym typeface="Calibri"/>
              </a:rPr>
              <a:t> de inventario para PyMEs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Ingenieria en Informatica — Capstone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A. EQUIPO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Un equipo, roles rotativos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920240"/>
            <a:ext cx="5120640" cy="3246120"/>
          </a:xfrm>
          <a:prstGeom prst="roundRect">
            <a:avLst>
              <a:gd fmla="val 3380" name="adj"/>
            </a:avLst>
          </a:prstGeom>
          <a:solidFill>
            <a:srgbClr val="F7F6F3"/>
          </a:solidFill>
          <a:ln>
            <a:noFill/>
          </a:ln>
          <a:effectLst>
            <a:outerShdw blurRad="1270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97280" y="2377440"/>
            <a:ext cx="731520" cy="731520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97280" y="23774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0"/>
              <a:buFont typeface="Calibri"/>
              <a:buNone/>
            </a:pPr>
            <a:r>
              <a:rPr b="1" i="0" lang="en-US" sz="2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2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103120" y="2423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Gabriel Artigas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97280" y="324612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Development Team / Scrum Master (rotativo)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3931920"/>
            <a:ext cx="4297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Backend, base de datos, seguridad y transacciones </a:t>
            </a:r>
            <a:r>
              <a:rPr lang="en-US" sz="1250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atómicas</a:t>
            </a:r>
            <a:r>
              <a:rPr b="0" i="0" lang="en-US" sz="12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126480" y="1920240"/>
            <a:ext cx="5120640" cy="3246120"/>
          </a:xfrm>
          <a:prstGeom prst="roundRect">
            <a:avLst>
              <a:gd fmla="val 3380" name="adj"/>
            </a:avLst>
          </a:prstGeom>
          <a:solidFill>
            <a:srgbClr val="F7F6F3"/>
          </a:solidFill>
          <a:ln>
            <a:noFill/>
          </a:ln>
          <a:effectLst>
            <a:outerShdw blurRad="1270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583680" y="2377440"/>
            <a:ext cx="731520" cy="731520"/>
          </a:xfrm>
          <a:prstGeom prst="ellipse">
            <a:avLst/>
          </a:prstGeom>
          <a:solidFill>
            <a:srgbClr val="1F6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583680" y="23774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0"/>
              <a:buFont typeface="Calibri"/>
              <a:buNone/>
            </a:pPr>
            <a:r>
              <a:rPr b="1" i="0" lang="en-US" sz="2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i="0" sz="2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589520" y="2423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Jesus Oyarzun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0" y="324612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F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6F5C"/>
                </a:solidFill>
                <a:latin typeface="Calibri"/>
                <a:ea typeface="Calibri"/>
                <a:cs typeface="Calibri"/>
                <a:sym typeface="Calibri"/>
              </a:rPr>
              <a:t>Development Team / Scrum Master (rotativo)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83680" y="3931920"/>
            <a:ext cx="4297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Frontend, UX/UI, </a:t>
            </a:r>
            <a:r>
              <a:rPr lang="en-US" sz="1250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b="0" i="0" lang="en-US" sz="12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 y pruebas automatizadas.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fmla="val 10526" name="adj"/>
            </a:avLst>
          </a:prstGeom>
          <a:solidFill>
            <a:srgbClr val="E7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914400" y="5623560"/>
            <a:ext cx="457200" cy="457200"/>
          </a:xfrm>
          <a:prstGeom prst="ellipse">
            <a:avLst/>
          </a:prstGeom>
          <a:solidFill>
            <a:srgbClr val="1D2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14400" y="5623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554480" y="557784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76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763"/>
                </a:solidFill>
                <a:latin typeface="Calibri"/>
                <a:ea typeface="Calibri"/>
                <a:cs typeface="Calibri"/>
                <a:sym typeface="Calibri"/>
              </a:rPr>
              <a:t>Docente guia</a:t>
            </a: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 —  cumple el rol de Product Owner: prioriza el Product Backlog y entrega </a:t>
            </a: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sobre el producto.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B. </a:t>
            </a:r>
            <a:r>
              <a:rPr b="1" lang="en-US" sz="1300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 DEL CASO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El problema y la propuesta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40080" y="1874520"/>
            <a:ext cx="5257800" cy="4343400"/>
          </a:xfrm>
          <a:prstGeom prst="roundRect">
            <a:avLst>
              <a:gd fmla="val 2526" name="adj"/>
            </a:avLst>
          </a:prstGeom>
          <a:solidFill>
            <a:srgbClr val="FBEA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960120" y="2148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42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E4232"/>
                </a:solidFill>
                <a:latin typeface="Calibri"/>
                <a:ea typeface="Calibri"/>
                <a:cs typeface="Calibri"/>
                <a:sym typeface="Calibri"/>
              </a:rPr>
              <a:t>PROBLEMATICA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960120" y="2606040"/>
            <a:ext cx="46634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Las PyMEs gestionan inventario con planillas o cuadernos, sin un sistema dedicado.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Descuadres entre el stock </a:t>
            </a: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físico</a:t>
            </a: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y el registrado.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Ventas comprometidas sin stock real disponible.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Sin trazabilidad de movimientos ni </a:t>
            </a: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visión</a:t>
            </a: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consolidada del negocio.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Los ERP existentes son costosos y complejos para una PyME.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263640" y="1874520"/>
            <a:ext cx="5257800" cy="4343400"/>
          </a:xfrm>
          <a:prstGeom prst="roundRect">
            <a:avLst>
              <a:gd fmla="val 2526" name="adj"/>
            </a:avLst>
          </a:prstGeom>
          <a:solidFill>
            <a:srgbClr val="E7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583680" y="2148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PROPUESTA DE </a:t>
            </a:r>
            <a:r>
              <a:rPr b="1" lang="en-US" sz="1200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583680" y="2606040"/>
            <a:ext cx="46634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StockFlow: plataforma web multiempresa de inventario, productos y ventas.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Stock actualizado </a:t>
            </a: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automáticamente</a:t>
            </a: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en cada movimiento.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Transacciones </a:t>
            </a: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atómicas</a:t>
            </a: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: evitan vender el mismo stock dos veces.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Alertas de stock bajo y dashboard con indicadores clave.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Carga masiva de productos </a:t>
            </a: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vía</a:t>
            </a:r>
            <a:r>
              <a:rPr b="0" i="0" lang="en-US" sz="13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CSV/Excel.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C. OBJETIVOS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General y </a:t>
            </a:r>
            <a:r>
              <a:rPr b="1" lang="en-US" sz="3200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específicos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fmla="val 9524" name="adj"/>
            </a:avLst>
          </a:prstGeom>
          <a:solidFill>
            <a:srgbClr val="162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14400" y="1965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14400" y="224028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Disenar e implementar StockFlow, un sistema web de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inventario que permita a una PyME administrar productos, stock y ventas de forma centralizada, segura y trazable.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88720" y="30175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Aislar </a:t>
            </a:r>
            <a:r>
              <a:rPr lang="en-US" sz="12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lógicamente</a:t>
            </a: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los datos entre empresas (empresa_id).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188720" y="39319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segura con </a:t>
            </a:r>
            <a:r>
              <a:rPr lang="en-US" sz="12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contraseñas</a:t>
            </a: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hasheadas.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188720" y="48463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CRUD de productos, categorias, </a:t>
            </a:r>
            <a:r>
              <a:rPr lang="en-US" sz="12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búsqueda</a:t>
            </a: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y filtros.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" y="58064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40080" y="5806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88720" y="57607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Control de stock con historial y alertas de stock bajo.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126480" y="30632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126480" y="3063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675120" y="30175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Ventas con transacciones </a:t>
            </a:r>
            <a:r>
              <a:rPr lang="en-US" sz="12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atómicas</a:t>
            </a: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ante concurrencia.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126480" y="39776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126480" y="3977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675120" y="39319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Carga masiva de productos </a:t>
            </a:r>
            <a:r>
              <a:rPr lang="en-US" sz="12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vía</a:t>
            </a: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CSV/Excel.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126480" y="48920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126480" y="4892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675120" y="48463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Dashboard con indicadores clave del negocio.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126480" y="5806440"/>
            <a:ext cx="384048" cy="38404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126480" y="5806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b="1" i="0" lang="en-US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675120" y="57607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Pruebas automatizadas y </a:t>
            </a:r>
            <a:r>
              <a:rPr lang="en-US" sz="12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r>
              <a:rPr b="0" i="0" lang="en-US" sz="12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de seguridad.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D. PLAN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Cronograma de hitos principales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0080" y="1508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9 Sprints de 2 semanas — 18 semanas totales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640080" y="3566160"/>
            <a:ext cx="10881360" cy="0"/>
          </a:xfrm>
          <a:prstGeom prst="straightConnector1">
            <a:avLst/>
          </a:prstGeom>
          <a:noFill/>
          <a:ln cap="flat" cmpd="sng" w="25400">
            <a:solidFill>
              <a:srgbClr val="D9D7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5"/>
          <p:cNvSpPr/>
          <p:nvPr/>
        </p:nvSpPr>
        <p:spPr>
          <a:xfrm>
            <a:off x="55778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2004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640080" y="30632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73152" y="214884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91440" y="220370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Analisis y definicion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91795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68021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2000250" y="36576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3" name="Google Shape;113;p5"/>
          <p:cNvSpPr/>
          <p:nvPr/>
        </p:nvSpPr>
        <p:spPr>
          <a:xfrm>
            <a:off x="1433322" y="406908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451610" y="412394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Arquitectura y BD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27812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04038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3360420" y="30632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/>
          <p:nvPr/>
        </p:nvSpPr>
        <p:spPr>
          <a:xfrm>
            <a:off x="2793492" y="214884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2811780" y="220370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Auth y config.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63829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40055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4720590" y="36576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3" name="Google Shape;123;p5"/>
          <p:cNvSpPr/>
          <p:nvPr/>
        </p:nvSpPr>
        <p:spPr>
          <a:xfrm>
            <a:off x="4153662" y="406908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171950" y="412394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Empresa y productos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99846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76072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6080760" y="30632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5513832" y="214884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532120" y="220370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Inventario + transacciones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35863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12089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7440930" y="36576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6874002" y="406908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892290" y="412394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Ventas y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71880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848106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5"/>
          <p:cNvCxnSpPr/>
          <p:nvPr/>
        </p:nvCxnSpPr>
        <p:spPr>
          <a:xfrm>
            <a:off x="8801100" y="30632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8" name="Google Shape;138;p5"/>
          <p:cNvSpPr/>
          <p:nvPr/>
        </p:nvSpPr>
        <p:spPr>
          <a:xfrm>
            <a:off x="8234172" y="214884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8252460" y="220370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Carga masiva CSV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007897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984123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10161270" y="36576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9594342" y="406908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9612630" y="412394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UX/UI y seguridad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1439144" y="3483864"/>
            <a:ext cx="164592" cy="164592"/>
          </a:xfrm>
          <a:prstGeom prst="ellipse">
            <a:avLst/>
          </a:prstGeom>
          <a:solidFill>
            <a:srgbClr val="2F5F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11201400" y="37124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5"/>
          <p:cNvCxnSpPr/>
          <p:nvPr/>
        </p:nvCxnSpPr>
        <p:spPr>
          <a:xfrm>
            <a:off x="11521440" y="30632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D9D7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8" name="Google Shape;148;p5"/>
          <p:cNvSpPr/>
          <p:nvPr/>
        </p:nvSpPr>
        <p:spPr>
          <a:xfrm>
            <a:off x="10954512" y="2148840"/>
            <a:ext cx="1133856" cy="914400"/>
          </a:xfrm>
          <a:prstGeom prst="roundRect">
            <a:avLst>
              <a:gd fmla="val 6000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0972800" y="2203704"/>
            <a:ext cx="1097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Pruebas y cierre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E. </a:t>
            </a:r>
            <a:r>
              <a:rPr b="1" lang="en-US" sz="1300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 A UTILIZAR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Scrum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40080" y="1965960"/>
            <a:ext cx="2514600" cy="3566160"/>
          </a:xfrm>
          <a:prstGeom prst="roundRect">
            <a:avLst>
              <a:gd fmla="val 3636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005840" y="2331720"/>
            <a:ext cx="594360" cy="594360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1005840" y="2331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Calibri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14400" y="31089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Sprints de 2 semanas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14400" y="3794760"/>
            <a:ext cx="1965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Cada uno con un objetivo concreto y un incremento funcional.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337560" y="1965960"/>
            <a:ext cx="2514600" cy="3566160"/>
          </a:xfrm>
          <a:prstGeom prst="roundRect">
            <a:avLst>
              <a:gd fmla="val 3636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703320" y="2331720"/>
            <a:ext cx="594360" cy="594360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703320" y="2331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Calibri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PB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611880" y="31089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Product Backlog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11880" y="3794760"/>
            <a:ext cx="1965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Historias de usuario priorizadas junto al Product Owner.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035040" y="1965960"/>
            <a:ext cx="2514600" cy="3566160"/>
          </a:xfrm>
          <a:prstGeom prst="roundRect">
            <a:avLst>
              <a:gd fmla="val 3636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400800" y="2331720"/>
            <a:ext cx="594360" cy="594360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400800" y="2331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Calibri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309360" y="31089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Sprint Review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309360" y="3794760"/>
            <a:ext cx="1965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Se muestra el incremento logrado al cierre de cada sprint.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732520" y="1965960"/>
            <a:ext cx="2514600" cy="3566160"/>
          </a:xfrm>
          <a:prstGeom prst="roundRect">
            <a:avLst>
              <a:gd fmla="val 3636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9098280" y="2331720"/>
            <a:ext cx="594360" cy="594360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9098280" y="2331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Calibri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006840" y="31089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Adaptabilidad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006840" y="3794760"/>
            <a:ext cx="1965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El backlog se ajusta segun </a:t>
            </a:r>
            <a:r>
              <a:rPr lang="en-US" sz="1150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r>
              <a:rPr b="0" i="0" lang="en-US" sz="115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 del docente guia.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Roles: Development Team (Gabriel y Jesus) · Scrum Master rotativo · Product Owner (docente guia)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3E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F. TECNOLOGIAS A UTILIZAR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F. </a:t>
            </a:r>
            <a:r>
              <a:rPr b="1" lang="en-US" sz="1300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 A UTILIZAR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Stack Tecnologico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40080" y="2176272"/>
            <a:ext cx="54864" cy="457200"/>
          </a:xfrm>
          <a:prstGeom prst="rect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14400" y="21031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383280" y="210312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3.11 · Flask · SQLAlchemy · Flask-Login · Flask-WTF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2953512"/>
            <a:ext cx="54864" cy="457200"/>
          </a:xfrm>
          <a:prstGeom prst="rect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914400" y="288036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383280" y="288036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8 (motor InnoDB) · MySQL Workbench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40080" y="3730752"/>
            <a:ext cx="54864" cy="457200"/>
          </a:xfrm>
          <a:prstGeom prst="rect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914400" y="36576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383280" y="365760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 · CSS3 · Bootstrap 5 · JavaScript · Chart.js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40080" y="4507992"/>
            <a:ext cx="54864" cy="457200"/>
          </a:xfrm>
          <a:prstGeom prst="rect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914400" y="44348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383280" y="443484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pytest · SQLite en memoria para pruebas aisladas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40080" y="5285232"/>
            <a:ext cx="54864" cy="457200"/>
          </a:xfrm>
          <a:prstGeom prst="rect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914400" y="52120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383280" y="521208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 Code · Git / GitHub · LibreOffice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9bfec86a0_0_73"/>
          <p:cNvSpPr/>
          <p:nvPr/>
        </p:nvSpPr>
        <p:spPr>
          <a:xfrm>
            <a:off x="64008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G. MODELO RELACIONAL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9bfec86a0_0_73"/>
          <p:cNvSpPr/>
          <p:nvPr/>
        </p:nvSpPr>
        <p:spPr>
          <a:xfrm>
            <a:off x="640080" y="822960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Modelo Relacional Normalizado </a:t>
            </a:r>
            <a:endParaRPr b="1" sz="2800">
              <a:solidFill>
                <a:srgbClr val="1A1A1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1" name="Google Shape;211;g3f9bfec86a0_0_73"/>
          <p:cNvSpPr/>
          <p:nvPr/>
        </p:nvSpPr>
        <p:spPr>
          <a:xfrm>
            <a:off x="640080" y="6172200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11 tablas organizadas en 4 bloques: acceso y multiempresa, catalogo e inventario, ventas y carga masiva.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9bfec86a0_0_73"/>
          <p:cNvSpPr/>
          <p:nvPr/>
        </p:nvSpPr>
        <p:spPr>
          <a:xfrm>
            <a:off x="11365992" y="64008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g3f9bfec86a0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325" y="1550075"/>
            <a:ext cx="9855875" cy="446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H. DIAGRAMA DE ARQUITECTURA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Arquitectura en capas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800" y="1552613"/>
            <a:ext cx="6542174" cy="512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I. MOCKUPS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Pantallas propuestas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mockup_login.png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37360"/>
            <a:ext cx="530352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mockup_dashboard.png" id="231" name="Google Shape;2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737360"/>
            <a:ext cx="530352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640080" y="59436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Inicio de sesion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263640" y="59436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J. PROXIMOS PASOS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De aqui a la entrega final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AE4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8"/>
              <a:buFont typeface="Calibri"/>
              <a:buNone/>
            </a:pPr>
            <a:r>
              <a:rPr b="1" i="0" lang="en-US" sz="124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325880" y="193852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Implementar transacciones </a:t>
            </a:r>
            <a:r>
              <a:rPr lang="en-US" sz="14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atómicas</a:t>
            </a: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(SELECT FOR UPDATE) en el </a:t>
            </a:r>
            <a:r>
              <a:rPr lang="en-US" sz="14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de ventas.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40080" y="2743200"/>
            <a:ext cx="438912" cy="438912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40080" y="27432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8"/>
              <a:buFont typeface="Calibri"/>
              <a:buNone/>
            </a:pPr>
            <a:r>
              <a:rPr b="1" i="0" lang="en-US" sz="124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325880" y="271576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Desarrollar el </a:t>
            </a:r>
            <a:r>
              <a:rPr lang="en-US" sz="14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de carga masiva de productos (CSV/Excel).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40080" y="3520440"/>
            <a:ext cx="438912" cy="438912"/>
          </a:xfrm>
          <a:prstGeom prst="ellipse">
            <a:avLst/>
          </a:prstGeom>
          <a:solidFill>
            <a:srgbClr val="AE4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640080" y="352044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8"/>
              <a:buFont typeface="Calibri"/>
              <a:buNone/>
            </a:pPr>
            <a:r>
              <a:rPr b="1" i="0" lang="en-US" sz="124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325880" y="349300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Actualizar la base de datos actual al modelo relacional definitivo que acabamos de diseñar.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40080" y="4297680"/>
            <a:ext cx="438912" cy="438912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40080" y="42976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8"/>
              <a:buFont typeface="Calibri"/>
              <a:buNone/>
            </a:pPr>
            <a:r>
              <a:rPr b="1" i="0" lang="en-US" sz="124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225605" y="4270248"/>
            <a:ext cx="9875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Completar la suite de pruebas automatizadas sobre los nuevos </a:t>
            </a:r>
            <a:r>
              <a:rPr lang="en-US" sz="14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40080" y="5074920"/>
            <a:ext cx="438912" cy="438912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40080" y="50749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8"/>
              <a:buFont typeface="Calibri"/>
              <a:buNone/>
            </a:pPr>
            <a:r>
              <a:rPr b="1" i="0" lang="en-US" sz="124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325880" y="504748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Preparar la </a:t>
            </a:r>
            <a:r>
              <a:rPr lang="en-US" sz="145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b="0" i="0" lang="en-US" sz="14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 final y ensayar la defensa del proyecto.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3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E8"/>
                </a:solidFill>
                <a:latin typeface="Calibri"/>
                <a:ea typeface="Calibri"/>
                <a:cs typeface="Calibri"/>
                <a:sym typeface="Calibri"/>
              </a:rPr>
              <a:t>K. CONCLUSIONES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 que confirma esta Fase 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85800" y="2221992"/>
            <a:ext cx="109728" cy="10972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1051560" y="207568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problema es real y acotado: 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 Flow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resuelve una necesidad concreta de las PyMEs.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85800" y="2907792"/>
            <a:ext cx="109728" cy="10972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1051560" y="276148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arquitectura en capas y el modelo de datos son 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sólidos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escalables.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85800" y="3593592"/>
            <a:ext cx="109728" cy="10972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1051560" y="344728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Scrum permite adaptar el desarrollo a la 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del docente guia.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85800" y="4279392"/>
            <a:ext cx="109728" cy="10972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1051560" y="413308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proyecto es factible dentro del tiempo y los recursos de la asignatura.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85800" y="4965192"/>
            <a:ext cx="109728" cy="109728"/>
          </a:xfrm>
          <a:prstGeom prst="ellipse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051560" y="481888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3 observaciones del profesor (aislamiento, transacciones, carga masiva) ya estan incorporadas al plan.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9418320" y="-2286000"/>
            <a:ext cx="5029200" cy="5029200"/>
          </a:xfrm>
          <a:prstGeom prst="ellipse">
            <a:avLst/>
          </a:prstGeom>
          <a:solidFill>
            <a:srgbClr val="E7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logo_duocuc.png" id="282" name="Google Shape;2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640080"/>
            <a:ext cx="155448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3"/>
          <p:cNvSpPr/>
          <p:nvPr/>
        </p:nvSpPr>
        <p:spPr>
          <a:xfrm>
            <a:off x="640080" y="274320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40080" y="3794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StockFlow — Preguntas y </a:t>
            </a:r>
            <a:r>
              <a:rPr lang="en-US" sz="1800">
                <a:solidFill>
                  <a:srgbClr val="2F5FE0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6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A63"/>
                </a:solidFill>
                <a:latin typeface="Calibri"/>
                <a:ea typeface="Calibri"/>
                <a:cs typeface="Calibri"/>
                <a:sym typeface="Calibri"/>
              </a:rPr>
              <a:t>Gabriel Artigas  ·  Jesus Oyarzun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6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6A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2026-08-25T19:18:55Z</dcterms:created>
  <dc:creator>PptxGenJS</dc:creator>
</cp:coreProperties>
</file>